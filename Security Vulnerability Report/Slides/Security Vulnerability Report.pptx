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60" r:id="rId4"/>
    <p:sldId id="257" r:id="rId5"/>
    <p:sldId id="259"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4" autoAdjust="0"/>
    <p:restoredTop sz="94660"/>
  </p:normalViewPr>
  <p:slideViewPr>
    <p:cSldViewPr snapToGrid="0">
      <p:cViewPr varScale="1">
        <p:scale>
          <a:sx n="127" d="100"/>
          <a:sy n="127" d="100"/>
        </p:scale>
        <p:origin x="57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yle Drewes" userId="ca18752ca15ecb28" providerId="LiveId" clId="{03D84907-7862-4F1E-B1C2-159CD7A9122A}"/>
    <pc:docChg chg="custSel modSld">
      <pc:chgData name="Kyle Drewes" userId="ca18752ca15ecb28" providerId="LiveId" clId="{03D84907-7862-4F1E-B1C2-159CD7A9122A}" dt="2023-05-20T01:08:43.733" v="563" actId="27636"/>
      <pc:docMkLst>
        <pc:docMk/>
      </pc:docMkLst>
      <pc:sldChg chg="modSp mod">
        <pc:chgData name="Kyle Drewes" userId="ca18752ca15ecb28" providerId="LiveId" clId="{03D84907-7862-4F1E-B1C2-159CD7A9122A}" dt="2023-05-20T01:08:43.733" v="563" actId="27636"/>
        <pc:sldMkLst>
          <pc:docMk/>
          <pc:sldMk cId="1391469015" sldId="257"/>
        </pc:sldMkLst>
        <pc:spChg chg="mod">
          <ac:chgData name="Kyle Drewes" userId="ca18752ca15ecb28" providerId="LiveId" clId="{03D84907-7862-4F1E-B1C2-159CD7A9122A}" dt="2023-05-20T01:08:43.733" v="563" actId="27636"/>
          <ac:spMkLst>
            <pc:docMk/>
            <pc:sldMk cId="1391469015" sldId="257"/>
            <ac:spMk id="3" creationId="{F7372FB0-27A2-2633-0412-1C9C2FA04FC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F05E2FB-B08A-463F-9A7F-2ABDBED98CE7}"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F9EB67-816C-44F8-BC6E-B81FAF145565}"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1165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05E2FB-B08A-463F-9A7F-2ABDBED98CE7}"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F9EB67-816C-44F8-BC6E-B81FAF145565}" type="slidenum">
              <a:rPr lang="en-US" smtClean="0"/>
              <a:t>‹#›</a:t>
            </a:fld>
            <a:endParaRPr lang="en-US"/>
          </a:p>
        </p:txBody>
      </p:sp>
    </p:spTree>
    <p:extLst>
      <p:ext uri="{BB962C8B-B14F-4D97-AF65-F5344CB8AC3E}">
        <p14:creationId xmlns:p14="http://schemas.microsoft.com/office/powerpoint/2010/main" val="2017686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05E2FB-B08A-463F-9A7F-2ABDBED98CE7}"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F9EB67-816C-44F8-BC6E-B81FAF145565}" type="slidenum">
              <a:rPr lang="en-US" smtClean="0"/>
              <a:t>‹#›</a:t>
            </a:fld>
            <a:endParaRPr lang="en-US"/>
          </a:p>
        </p:txBody>
      </p:sp>
    </p:spTree>
    <p:extLst>
      <p:ext uri="{BB962C8B-B14F-4D97-AF65-F5344CB8AC3E}">
        <p14:creationId xmlns:p14="http://schemas.microsoft.com/office/powerpoint/2010/main" val="3192245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F05E2FB-B08A-463F-9A7F-2ABDBED98CE7}" type="datetimeFigureOut">
              <a:rPr lang="en-US" smtClean="0"/>
              <a:t>6/24/26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F9EB67-816C-44F8-BC6E-B81FAF145565}" type="slidenum">
              <a:rPr lang="en-US" smtClean="0"/>
              <a:t>‹#›</a:t>
            </a:fld>
            <a:endParaRPr lang="en-US"/>
          </a:p>
        </p:txBody>
      </p:sp>
    </p:spTree>
    <p:extLst>
      <p:ext uri="{BB962C8B-B14F-4D97-AF65-F5344CB8AC3E}">
        <p14:creationId xmlns:p14="http://schemas.microsoft.com/office/powerpoint/2010/main" val="1965523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F05E2FB-B08A-463F-9A7F-2ABDBED98CE7}" type="datetimeFigureOut">
              <a:rPr lang="en-US" smtClean="0"/>
              <a:t>6/24/26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F9EB67-816C-44F8-BC6E-B81FAF145565}" type="slidenum">
              <a:rPr lang="en-US" smtClean="0"/>
              <a:t>‹#›</a:t>
            </a:fld>
            <a:endParaRPr lang="en-US"/>
          </a:p>
        </p:txBody>
      </p:sp>
    </p:spTree>
    <p:extLst>
      <p:ext uri="{BB962C8B-B14F-4D97-AF65-F5344CB8AC3E}">
        <p14:creationId xmlns:p14="http://schemas.microsoft.com/office/powerpoint/2010/main" val="3169877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05E2FB-B08A-463F-9A7F-2ABDBED98CE7}" type="datetimeFigureOut">
              <a:rPr lang="en-US" smtClean="0"/>
              <a:t>6/24/26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F9EB67-816C-44F8-BC6E-B81FAF145565}" type="slidenum">
              <a:rPr lang="en-US" smtClean="0"/>
              <a:t>‹#›</a:t>
            </a:fld>
            <a:endParaRPr lang="en-US"/>
          </a:p>
        </p:txBody>
      </p:sp>
    </p:spTree>
    <p:extLst>
      <p:ext uri="{BB962C8B-B14F-4D97-AF65-F5344CB8AC3E}">
        <p14:creationId xmlns:p14="http://schemas.microsoft.com/office/powerpoint/2010/main" val="1401560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05E2FB-B08A-463F-9A7F-2ABDBED98CE7}" type="datetimeFigureOut">
              <a:rPr lang="en-US" smtClean="0"/>
              <a:t>6/24/26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F9EB67-816C-44F8-BC6E-B81FAF145565}" type="slidenum">
              <a:rPr lang="en-US" smtClean="0"/>
              <a:t>‹#›</a:t>
            </a:fld>
            <a:endParaRPr lang="en-US"/>
          </a:p>
        </p:txBody>
      </p:sp>
    </p:spTree>
    <p:extLst>
      <p:ext uri="{BB962C8B-B14F-4D97-AF65-F5344CB8AC3E}">
        <p14:creationId xmlns:p14="http://schemas.microsoft.com/office/powerpoint/2010/main" val="2571284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05E2FB-B08A-463F-9A7F-2ABDBED98CE7}" type="datetimeFigureOut">
              <a:rPr lang="en-US" smtClean="0"/>
              <a:t>6/24/26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F9EB67-816C-44F8-BC6E-B81FAF145565}" type="slidenum">
              <a:rPr lang="en-US" smtClean="0"/>
              <a:t>‹#›</a:t>
            </a:fld>
            <a:endParaRPr lang="en-US"/>
          </a:p>
        </p:txBody>
      </p:sp>
    </p:spTree>
    <p:extLst>
      <p:ext uri="{BB962C8B-B14F-4D97-AF65-F5344CB8AC3E}">
        <p14:creationId xmlns:p14="http://schemas.microsoft.com/office/powerpoint/2010/main" val="929403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05E2FB-B08A-463F-9A7F-2ABDBED98CE7}" type="datetimeFigureOut">
              <a:rPr lang="en-US" smtClean="0"/>
              <a:t>6/24/26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F9EB67-816C-44F8-BC6E-B81FAF145565}" type="slidenum">
              <a:rPr lang="en-US" smtClean="0"/>
              <a:t>‹#›</a:t>
            </a:fld>
            <a:endParaRPr lang="en-US"/>
          </a:p>
        </p:txBody>
      </p:sp>
    </p:spTree>
    <p:extLst>
      <p:ext uri="{BB962C8B-B14F-4D97-AF65-F5344CB8AC3E}">
        <p14:creationId xmlns:p14="http://schemas.microsoft.com/office/powerpoint/2010/main" val="1242252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8F05E2FB-B08A-463F-9A7F-2ABDBED98CE7}" type="datetimeFigureOut">
              <a:rPr lang="en-US" smtClean="0"/>
              <a:t>6/24/26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F9EB67-816C-44F8-BC6E-B81FAF145565}" type="slidenum">
              <a:rPr lang="en-US" smtClean="0"/>
              <a:t>‹#›</a:t>
            </a:fld>
            <a:endParaRPr lang="en-US"/>
          </a:p>
        </p:txBody>
      </p:sp>
    </p:spTree>
    <p:extLst>
      <p:ext uri="{BB962C8B-B14F-4D97-AF65-F5344CB8AC3E}">
        <p14:creationId xmlns:p14="http://schemas.microsoft.com/office/powerpoint/2010/main" val="3701011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05E2FB-B08A-463F-9A7F-2ABDBED98CE7}"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F9EB67-816C-44F8-BC6E-B81FAF145565}" type="slidenum">
              <a:rPr lang="en-US" smtClean="0"/>
              <a:t>‹#›</a:t>
            </a:fld>
            <a:endParaRPr lang="en-US"/>
          </a:p>
        </p:txBody>
      </p:sp>
    </p:spTree>
    <p:extLst>
      <p:ext uri="{BB962C8B-B14F-4D97-AF65-F5344CB8AC3E}">
        <p14:creationId xmlns:p14="http://schemas.microsoft.com/office/powerpoint/2010/main" val="38789079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05E2FB-B08A-463F-9A7F-2ABDBED98CE7}"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F9EB67-816C-44F8-BC6E-B81FAF145565}"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4728550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05E2FB-B08A-463F-9A7F-2ABDBED98CE7}"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F9EB67-816C-44F8-BC6E-B81FAF145565}" type="slidenum">
              <a:rPr lang="en-US" smtClean="0"/>
              <a:t>‹#›</a:t>
            </a:fld>
            <a:endParaRPr lang="en-US"/>
          </a:p>
        </p:txBody>
      </p:sp>
    </p:spTree>
    <p:extLst>
      <p:ext uri="{BB962C8B-B14F-4D97-AF65-F5344CB8AC3E}">
        <p14:creationId xmlns:p14="http://schemas.microsoft.com/office/powerpoint/2010/main" val="9537466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05E2FB-B08A-463F-9A7F-2ABDBED98CE7}"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F9EB67-816C-44F8-BC6E-B81FAF145565}"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1272903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05E2FB-B08A-463F-9A7F-2ABDBED98CE7}"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F9EB67-816C-44F8-BC6E-B81FAF145565}" type="slidenum">
              <a:rPr lang="en-US" smtClean="0"/>
              <a:t>‹#›</a:t>
            </a:fld>
            <a:endParaRPr lang="en-US"/>
          </a:p>
        </p:txBody>
      </p:sp>
    </p:spTree>
    <p:extLst>
      <p:ext uri="{BB962C8B-B14F-4D97-AF65-F5344CB8AC3E}">
        <p14:creationId xmlns:p14="http://schemas.microsoft.com/office/powerpoint/2010/main" val="13555467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05E2FB-B08A-463F-9A7F-2ABDBED98CE7}"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F9EB67-816C-44F8-BC6E-B81FAF145565}" type="slidenum">
              <a:rPr lang="en-US" smtClean="0"/>
              <a:t>‹#›</a:t>
            </a:fld>
            <a:endParaRPr lang="en-US"/>
          </a:p>
        </p:txBody>
      </p:sp>
    </p:spTree>
    <p:extLst>
      <p:ext uri="{BB962C8B-B14F-4D97-AF65-F5344CB8AC3E}">
        <p14:creationId xmlns:p14="http://schemas.microsoft.com/office/powerpoint/2010/main" val="3313565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05E2FB-B08A-463F-9A7F-2ABDBED98CE7}" type="datetimeFigureOut">
              <a:rPr lang="en-US" smtClean="0"/>
              <a:t>6/24/26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F9EB67-816C-44F8-BC6E-B81FAF145565}" type="slidenum">
              <a:rPr lang="en-US" smtClean="0"/>
              <a:t>‹#›</a:t>
            </a:fld>
            <a:endParaRPr lang="en-US"/>
          </a:p>
        </p:txBody>
      </p:sp>
    </p:spTree>
    <p:extLst>
      <p:ext uri="{BB962C8B-B14F-4D97-AF65-F5344CB8AC3E}">
        <p14:creationId xmlns:p14="http://schemas.microsoft.com/office/powerpoint/2010/main" val="3880826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8F05E2FB-B08A-463F-9A7F-2ABDBED98CE7}" type="datetimeFigureOut">
              <a:rPr lang="en-US" smtClean="0"/>
              <a:t>6/24/26</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A1F9EB67-816C-44F8-BC6E-B81FAF145565}" type="slidenum">
              <a:rPr lang="en-US" smtClean="0"/>
              <a:t>‹#›</a:t>
            </a:fld>
            <a:endParaRPr lang="en-US"/>
          </a:p>
        </p:txBody>
      </p:sp>
    </p:spTree>
    <p:extLst>
      <p:ext uri="{BB962C8B-B14F-4D97-AF65-F5344CB8AC3E}">
        <p14:creationId xmlns:p14="http://schemas.microsoft.com/office/powerpoint/2010/main" val="7508644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93D85-B8F6-AB9D-8FFD-3EBDDBFB75F8}"/>
              </a:ext>
            </a:extLst>
          </p:cNvPr>
          <p:cNvSpPr>
            <a:spLocks noGrp="1"/>
          </p:cNvSpPr>
          <p:nvPr>
            <p:ph type="ctrTitle"/>
          </p:nvPr>
        </p:nvSpPr>
        <p:spPr>
          <a:xfrm>
            <a:off x="1151572" y="658706"/>
            <a:ext cx="10522268" cy="2971801"/>
          </a:xfrm>
        </p:spPr>
        <p:txBody>
          <a:bodyPr/>
          <a:lstStyle/>
          <a:p>
            <a:r>
              <a:rPr lang="en-US" dirty="0"/>
              <a:t>Security Vulnerability Report</a:t>
            </a:r>
          </a:p>
        </p:txBody>
      </p:sp>
      <p:sp>
        <p:nvSpPr>
          <p:cNvPr id="3" name="Subtitle 2">
            <a:extLst>
              <a:ext uri="{FF2B5EF4-FFF2-40B4-BE49-F238E27FC236}">
                <a16:creationId xmlns:a16="http://schemas.microsoft.com/office/drawing/2014/main" id="{BEE4BB94-E56B-437A-2CA3-F1B3E0E03765}"/>
              </a:ext>
            </a:extLst>
          </p:cNvPr>
          <p:cNvSpPr>
            <a:spLocks noGrp="1"/>
          </p:cNvSpPr>
          <p:nvPr>
            <p:ph type="subTitle" idx="1"/>
          </p:nvPr>
        </p:nvSpPr>
        <p:spPr>
          <a:xfrm>
            <a:off x="322471" y="6858000"/>
            <a:ext cx="6400800" cy="1947333"/>
          </a:xfrm>
        </p:spPr>
        <p:txBody>
          <a:bodyPr>
            <a:normAutofit/>
          </a:bodyPr>
          <a:lstStyle/>
          <a:p>
            <a:endParaRPr lang="en-US" sz="4800" dirty="0"/>
          </a:p>
        </p:txBody>
      </p:sp>
    </p:spTree>
    <p:extLst>
      <p:ext uri="{BB962C8B-B14F-4D97-AF65-F5344CB8AC3E}">
        <p14:creationId xmlns:p14="http://schemas.microsoft.com/office/powerpoint/2010/main" val="1484791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8AACC-A8B7-035E-7430-48447E208787}"/>
              </a:ext>
            </a:extLst>
          </p:cNvPr>
          <p:cNvSpPr>
            <a:spLocks noGrp="1"/>
          </p:cNvSpPr>
          <p:nvPr>
            <p:ph type="title"/>
          </p:nvPr>
        </p:nvSpPr>
        <p:spPr>
          <a:xfrm>
            <a:off x="245434" y="98161"/>
            <a:ext cx="8534400" cy="1245510"/>
          </a:xfrm>
        </p:spPr>
        <p:txBody>
          <a:bodyPr/>
          <a:lstStyle/>
          <a:p>
            <a:r>
              <a:rPr lang="en-US" dirty="0"/>
              <a:t>Description</a:t>
            </a:r>
          </a:p>
        </p:txBody>
      </p:sp>
      <p:sp>
        <p:nvSpPr>
          <p:cNvPr id="3" name="Content Placeholder 2">
            <a:extLst>
              <a:ext uri="{FF2B5EF4-FFF2-40B4-BE49-F238E27FC236}">
                <a16:creationId xmlns:a16="http://schemas.microsoft.com/office/drawing/2014/main" id="{6C125C72-CD66-A46D-7299-EC164E3C596F}"/>
              </a:ext>
            </a:extLst>
          </p:cNvPr>
          <p:cNvSpPr>
            <a:spLocks noGrp="1"/>
          </p:cNvSpPr>
          <p:nvPr>
            <p:ph idx="1"/>
          </p:nvPr>
        </p:nvSpPr>
        <p:spPr>
          <a:xfrm>
            <a:off x="245434" y="1318271"/>
            <a:ext cx="5834967" cy="4921029"/>
          </a:xfrm>
        </p:spPr>
        <p:txBody>
          <a:bodyPr>
            <a:noAutofit/>
          </a:bodyPr>
          <a:lstStyle/>
          <a:p>
            <a:pPr marL="0" indent="0">
              <a:buNone/>
            </a:pPr>
            <a:r>
              <a:rPr lang="en-US" dirty="0">
                <a:solidFill>
                  <a:schemeClr val="tx1"/>
                </a:solidFill>
                <a:latin typeface="Cordia New" panose="020B0304020202020204" pitchFamily="34" charset="-34"/>
                <a:cs typeface="Cordia New" panose="020B0304020202020204" pitchFamily="34" charset="-34"/>
              </a:rPr>
              <a:t>The objective of this project is to create a security vulnerability report using Java, Selenium, OWASP ZAP, and other test automation tools. The purpose of this report is to determine how susceptible each PepsiCo Foods subsidiary web application is to malicious activity by identifying potential vulnerabilities and security weaknesses.</a:t>
            </a:r>
          </a:p>
          <a:p>
            <a:pPr marL="0" indent="0">
              <a:buNone/>
            </a:pPr>
            <a:r>
              <a:rPr lang="en-US" dirty="0">
                <a:solidFill>
                  <a:schemeClr val="tx1"/>
                </a:solidFill>
                <a:latin typeface="Cordia New" panose="020B0304020202020204" pitchFamily="34" charset="-34"/>
                <a:cs typeface="Cordia New" panose="020B0304020202020204" pitchFamily="34" charset="-34"/>
              </a:rPr>
              <a:t>To accomplish this, Selenium will automatically launch and navigate through each subsidiary's website within the same browser session. As the websites are being accessed, OWASP ZAP will analyze the web traffic and perform security scans to identify potential vulnerabilities.</a:t>
            </a:r>
          </a:p>
          <a:p>
            <a:pPr marL="0" indent="0">
              <a:buNone/>
            </a:pPr>
            <a:r>
              <a:rPr lang="en-US" dirty="0">
                <a:solidFill>
                  <a:schemeClr val="tx1"/>
                </a:solidFill>
                <a:latin typeface="Cordia New" panose="020B0304020202020204" pitchFamily="34" charset="-34"/>
                <a:cs typeface="Cordia New" panose="020B0304020202020204" pitchFamily="34" charset="-34"/>
              </a:rPr>
              <a:t>After the testing process is complete, a report will be generated that evaluates the vulnerabilities discovered for each subsidiary website. The report will provide an overview of the security risks found and help determine the overall security of each web application.</a:t>
            </a:r>
          </a:p>
          <a:p>
            <a:pPr marL="0" indent="0">
              <a:buNone/>
            </a:pPr>
            <a:br>
              <a:rPr lang="en-US" dirty="0">
                <a:solidFill>
                  <a:schemeClr val="tx1"/>
                </a:solidFill>
              </a:rPr>
            </a:br>
            <a:endParaRPr lang="en-US" dirty="0">
              <a:solidFill>
                <a:schemeClr val="tx1"/>
              </a:solidFill>
            </a:endParaRPr>
          </a:p>
        </p:txBody>
      </p:sp>
      <p:pic>
        <p:nvPicPr>
          <p:cNvPr id="6" name="Picture 5">
            <a:extLst>
              <a:ext uri="{FF2B5EF4-FFF2-40B4-BE49-F238E27FC236}">
                <a16:creationId xmlns:a16="http://schemas.microsoft.com/office/drawing/2014/main" id="{91D369B5-5E33-0C15-BE14-01BF60ADEF1E}"/>
              </a:ext>
            </a:extLst>
          </p:cNvPr>
          <p:cNvPicPr>
            <a:picLocks noChangeAspect="1"/>
          </p:cNvPicPr>
          <p:nvPr/>
        </p:nvPicPr>
        <p:blipFill>
          <a:blip r:embed="rId2"/>
          <a:stretch>
            <a:fillRect/>
          </a:stretch>
        </p:blipFill>
        <p:spPr>
          <a:xfrm>
            <a:off x="6746240" y="148364"/>
            <a:ext cx="3386995" cy="6287996"/>
          </a:xfrm>
          <a:prstGeom prst="rect">
            <a:avLst/>
          </a:prstGeom>
        </p:spPr>
      </p:pic>
      <p:sp>
        <p:nvSpPr>
          <p:cNvPr id="9" name="TextBox 8">
            <a:extLst>
              <a:ext uri="{FF2B5EF4-FFF2-40B4-BE49-F238E27FC236}">
                <a16:creationId xmlns:a16="http://schemas.microsoft.com/office/drawing/2014/main" id="{43C68EF0-09F4-1842-569F-3AC907016A37}"/>
              </a:ext>
            </a:extLst>
          </p:cNvPr>
          <p:cNvSpPr txBox="1"/>
          <p:nvPr/>
        </p:nvSpPr>
        <p:spPr>
          <a:xfrm>
            <a:off x="6659880" y="6482840"/>
            <a:ext cx="6106160" cy="276999"/>
          </a:xfrm>
          <a:prstGeom prst="rect">
            <a:avLst/>
          </a:prstGeom>
          <a:noFill/>
        </p:spPr>
        <p:txBody>
          <a:bodyPr wrap="square">
            <a:spAutoFit/>
          </a:bodyPr>
          <a:lstStyle/>
          <a:p>
            <a:r>
              <a:rPr lang="en-US" sz="1200" dirty="0"/>
              <a:t>https://</a:t>
            </a:r>
            <a:r>
              <a:rPr lang="en-US" sz="1200" dirty="0" err="1"/>
              <a:t>www.pepsico.com</a:t>
            </a:r>
            <a:r>
              <a:rPr lang="en-US" sz="1200" dirty="0"/>
              <a:t>/brands</a:t>
            </a:r>
          </a:p>
        </p:txBody>
      </p:sp>
    </p:spTree>
    <p:extLst>
      <p:ext uri="{BB962C8B-B14F-4D97-AF65-F5344CB8AC3E}">
        <p14:creationId xmlns:p14="http://schemas.microsoft.com/office/powerpoint/2010/main" val="4043040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DD78-74B2-F5FB-6049-082BE5A18C5B}"/>
              </a:ext>
            </a:extLst>
          </p:cNvPr>
          <p:cNvSpPr>
            <a:spLocks noGrp="1"/>
          </p:cNvSpPr>
          <p:nvPr>
            <p:ph type="title"/>
          </p:nvPr>
        </p:nvSpPr>
        <p:spPr>
          <a:xfrm>
            <a:off x="280737" y="7129646"/>
            <a:ext cx="17749871" cy="7377135"/>
          </a:xfrm>
        </p:spPr>
        <p:txBody>
          <a:bodyPr>
            <a:noAutofit/>
          </a:bodyPr>
          <a:lstStyle/>
          <a:p>
            <a:endParaRPr lang="en-US" sz="10000" dirty="0"/>
          </a:p>
        </p:txBody>
      </p:sp>
      <p:sp>
        <p:nvSpPr>
          <p:cNvPr id="5" name="TextBox 4">
            <a:extLst>
              <a:ext uri="{FF2B5EF4-FFF2-40B4-BE49-F238E27FC236}">
                <a16:creationId xmlns:a16="http://schemas.microsoft.com/office/drawing/2014/main" id="{7EF2BE4B-AD87-6D2D-0DEC-F28CC4526002}"/>
              </a:ext>
            </a:extLst>
          </p:cNvPr>
          <p:cNvSpPr txBox="1"/>
          <p:nvPr/>
        </p:nvSpPr>
        <p:spPr>
          <a:xfrm>
            <a:off x="140913" y="60289"/>
            <a:ext cx="9224386" cy="646331"/>
          </a:xfrm>
          <a:prstGeom prst="rect">
            <a:avLst/>
          </a:prstGeom>
          <a:noFill/>
        </p:spPr>
        <p:txBody>
          <a:bodyPr wrap="square">
            <a:spAutoFit/>
          </a:bodyPr>
          <a:lstStyle/>
          <a:p>
            <a:r>
              <a:rPr lang="en-US" sz="3600" dirty="0"/>
              <a:t>Design</a:t>
            </a:r>
          </a:p>
        </p:txBody>
      </p:sp>
      <p:sp>
        <p:nvSpPr>
          <p:cNvPr id="7" name="TextBox 6">
            <a:extLst>
              <a:ext uri="{FF2B5EF4-FFF2-40B4-BE49-F238E27FC236}">
                <a16:creationId xmlns:a16="http://schemas.microsoft.com/office/drawing/2014/main" id="{8604DD48-41B9-7551-3BB5-A9FE8B7109E4}"/>
              </a:ext>
            </a:extLst>
          </p:cNvPr>
          <p:cNvSpPr txBox="1"/>
          <p:nvPr/>
        </p:nvSpPr>
        <p:spPr>
          <a:xfrm>
            <a:off x="140913" y="807100"/>
            <a:ext cx="7656255" cy="7371249"/>
          </a:xfrm>
          <a:prstGeom prst="rect">
            <a:avLst/>
          </a:prstGeom>
          <a:noFill/>
        </p:spPr>
        <p:txBody>
          <a:bodyPr wrap="square">
            <a:spAutoFit/>
          </a:bodyPr>
          <a:lstStyle/>
          <a:p>
            <a:pPr marL="0" indent="0">
              <a:buNone/>
            </a:pPr>
            <a:r>
              <a:rPr lang="en-US" sz="2100" b="1" dirty="0">
                <a:latin typeface="Cordia New" panose="020B0304020202020204" pitchFamily="34" charset="-34"/>
                <a:cs typeface="Cordia New" panose="020B0304020202020204" pitchFamily="34" charset="-34"/>
              </a:rPr>
              <a:t>Packages:</a:t>
            </a:r>
            <a:br>
              <a:rPr lang="en-US" sz="1600" dirty="0">
                <a:latin typeface="Cordia New" panose="020B0304020202020204" pitchFamily="34" charset="-34"/>
                <a:cs typeface="Cordia New" panose="020B0304020202020204" pitchFamily="34" charset="-34"/>
              </a:rPr>
            </a:br>
            <a:r>
              <a:rPr lang="en-US" dirty="0">
                <a:latin typeface="Cordia New" panose="020B0304020202020204" pitchFamily="34" charset="-34"/>
                <a:cs typeface="Cordia New" panose="020B0304020202020204" pitchFamily="34" charset="-34"/>
              </a:rPr>
              <a:t>• </a:t>
            </a:r>
            <a:r>
              <a:rPr lang="en-US" dirty="0" err="1">
                <a:latin typeface="Cordia New" panose="020B0304020202020204" pitchFamily="34" charset="-34"/>
                <a:cs typeface="Cordia New" panose="020B0304020202020204" pitchFamily="34" charset="-34"/>
              </a:rPr>
              <a:t>Security_Report_Package</a:t>
            </a:r>
            <a:r>
              <a:rPr lang="en-US" dirty="0">
                <a:latin typeface="Cordia New" panose="020B0304020202020204" pitchFamily="34" charset="-34"/>
                <a:cs typeface="Cordia New" panose="020B0304020202020204" pitchFamily="34" charset="-34"/>
              </a:rPr>
              <a:t> –</a:t>
            </a:r>
            <a:r>
              <a:rPr lang="en-US" dirty="0" err="1">
                <a:latin typeface="Cordia New" panose="020B0304020202020204" pitchFamily="34" charset="-34"/>
                <a:cs typeface="Cordia New" panose="020B0304020202020204" pitchFamily="34" charset="-34"/>
              </a:rPr>
              <a:t>Owasp</a:t>
            </a:r>
            <a:r>
              <a:rPr lang="en-US" dirty="0">
                <a:latin typeface="Cordia New" panose="020B0304020202020204" pitchFamily="34" charset="-34"/>
                <a:cs typeface="Cordia New" panose="020B0304020202020204" pitchFamily="34" charset="-34"/>
              </a:rPr>
              <a:t> Zap security configurations and logic.</a:t>
            </a:r>
          </a:p>
          <a:p>
            <a:pPr marL="0" indent="0">
              <a:buNone/>
            </a:pPr>
            <a:r>
              <a:rPr lang="en-US" dirty="0">
                <a:latin typeface="Cordia New" panose="020B0304020202020204" pitchFamily="34" charset="-34"/>
                <a:cs typeface="Cordia New" panose="020B0304020202020204" pitchFamily="34" charset="-34"/>
              </a:rPr>
              <a:t>	• </a:t>
            </a:r>
            <a:r>
              <a:rPr lang="en-US" dirty="0" err="1">
                <a:latin typeface="Cordia New" panose="020B0304020202020204" pitchFamily="34" charset="-34"/>
                <a:cs typeface="Cordia New" panose="020B0304020202020204" pitchFamily="34" charset="-34"/>
              </a:rPr>
              <a:t>BaseSecurityTest.java</a:t>
            </a:r>
            <a:endParaRPr lang="en-US" dirty="0">
              <a:latin typeface="Cordia New" panose="020B0304020202020204" pitchFamily="34" charset="-34"/>
              <a:cs typeface="Cordia New" panose="020B0304020202020204" pitchFamily="34" charset="-34"/>
            </a:endParaRPr>
          </a:p>
          <a:p>
            <a:pPr marL="0" indent="0">
              <a:buNone/>
            </a:pPr>
            <a:r>
              <a:rPr lang="en-US" dirty="0">
                <a:latin typeface="Cordia New" panose="020B0304020202020204" pitchFamily="34" charset="-34"/>
                <a:cs typeface="Cordia New" panose="020B0304020202020204" pitchFamily="34" charset="-34"/>
              </a:rPr>
              <a:t>	• </a:t>
            </a:r>
            <a:r>
              <a:rPr lang="en-US" dirty="0" err="1">
                <a:latin typeface="Cordia New" panose="020B0304020202020204" pitchFamily="34" charset="-34"/>
                <a:cs typeface="Cordia New" panose="020B0304020202020204" pitchFamily="34" charset="-34"/>
              </a:rPr>
              <a:t>SecurityReport.java</a:t>
            </a:r>
            <a:endParaRPr lang="en-US" dirty="0">
              <a:latin typeface="Cordia New" panose="020B0304020202020204" pitchFamily="34" charset="-34"/>
              <a:cs typeface="Cordia New" panose="020B0304020202020204" pitchFamily="34" charset="-34"/>
            </a:endParaRPr>
          </a:p>
          <a:p>
            <a:pPr marL="0" indent="0">
              <a:buNone/>
            </a:pPr>
            <a:r>
              <a:rPr lang="en-US" dirty="0">
                <a:latin typeface="Cordia New" panose="020B0304020202020204" pitchFamily="34" charset="-34"/>
                <a:cs typeface="Cordia New" panose="020B0304020202020204" pitchFamily="34" charset="-34"/>
              </a:rPr>
              <a:t>• </a:t>
            </a:r>
            <a:r>
              <a:rPr lang="en-US" dirty="0" err="1">
                <a:latin typeface="Cordia New" panose="020B0304020202020204" pitchFamily="34" charset="-34"/>
                <a:cs typeface="Cordia New" panose="020B0304020202020204" pitchFamily="34" charset="-34"/>
              </a:rPr>
              <a:t>Security_Report_Package.Pages</a:t>
            </a:r>
            <a:r>
              <a:rPr lang="en-US" dirty="0">
                <a:latin typeface="Cordia New" panose="020B0304020202020204" pitchFamily="34" charset="-34"/>
                <a:cs typeface="Cordia New" panose="020B0304020202020204" pitchFamily="34" charset="-34"/>
              </a:rPr>
              <a:t> – Logic used to access each subsidiary page</a:t>
            </a:r>
          </a:p>
          <a:p>
            <a:pPr marL="0" indent="0">
              <a:buNone/>
            </a:pPr>
            <a:r>
              <a:rPr lang="en-US" dirty="0">
                <a:latin typeface="Cordia New" panose="020B0304020202020204" pitchFamily="34" charset="-34"/>
                <a:cs typeface="Cordia New" panose="020B0304020202020204" pitchFamily="34" charset="-34"/>
              </a:rPr>
              <a:t>	• </a:t>
            </a:r>
            <a:r>
              <a:rPr lang="en-US" dirty="0" err="1">
                <a:latin typeface="Cordia New" panose="020B0304020202020204" pitchFamily="34" charset="-34"/>
                <a:cs typeface="Cordia New" panose="020B0304020202020204" pitchFamily="34" charset="-34"/>
              </a:rPr>
              <a:t>BasePage.java</a:t>
            </a:r>
            <a:endParaRPr lang="en-US" dirty="0">
              <a:latin typeface="Cordia New" panose="020B0304020202020204" pitchFamily="34" charset="-34"/>
              <a:cs typeface="Cordia New" panose="020B0304020202020204" pitchFamily="34" charset="-34"/>
            </a:endParaRPr>
          </a:p>
          <a:p>
            <a:pPr marL="0" indent="0">
              <a:buNone/>
            </a:pPr>
            <a:r>
              <a:rPr lang="en-US" dirty="0">
                <a:latin typeface="Cordia New" panose="020B0304020202020204" pitchFamily="34" charset="-34"/>
                <a:cs typeface="Cordia New" panose="020B0304020202020204" pitchFamily="34" charset="-34"/>
              </a:rPr>
              <a:t>	• </a:t>
            </a:r>
            <a:r>
              <a:rPr lang="en-US" dirty="0" err="1">
                <a:latin typeface="Cordia New" panose="020B0304020202020204" pitchFamily="34" charset="-34"/>
                <a:cs typeface="Cordia New" panose="020B0304020202020204" pitchFamily="34" charset="-34"/>
              </a:rPr>
              <a:t>PepsiCoBrandsPage</a:t>
            </a:r>
            <a:r>
              <a:rPr lang="en-US" dirty="0">
                <a:latin typeface="Cordia New" panose="020B0304020202020204" pitchFamily="34" charset="-34"/>
                <a:cs typeface="Cordia New" panose="020B0304020202020204" pitchFamily="34" charset="-34"/>
              </a:rPr>
              <a:t>. Java</a:t>
            </a:r>
          </a:p>
          <a:p>
            <a:pPr marL="0" indent="0">
              <a:buNone/>
            </a:pPr>
            <a:r>
              <a:rPr lang="en-US" dirty="0">
                <a:latin typeface="Cordia New" panose="020B0304020202020204" pitchFamily="34" charset="-34"/>
                <a:cs typeface="Cordia New" panose="020B0304020202020204" pitchFamily="34" charset="-34"/>
              </a:rPr>
              <a:t>	• </a:t>
            </a:r>
            <a:r>
              <a:rPr lang="en-US" dirty="0" err="1">
                <a:latin typeface="Cordia New" panose="020B0304020202020204" pitchFamily="34" charset="-34"/>
                <a:cs typeface="Cordia New" panose="020B0304020202020204" pitchFamily="34" charset="-34"/>
              </a:rPr>
              <a:t>Subsidiary.java</a:t>
            </a:r>
            <a:endParaRPr lang="en-US" dirty="0">
              <a:latin typeface="Cordia New" panose="020B0304020202020204" pitchFamily="34" charset="-34"/>
              <a:cs typeface="Cordia New" panose="020B0304020202020204" pitchFamily="34" charset="-34"/>
            </a:endParaRPr>
          </a:p>
          <a:p>
            <a:pPr marL="0" indent="0">
              <a:buNone/>
            </a:pPr>
            <a:r>
              <a:rPr lang="en-US" dirty="0">
                <a:latin typeface="Cordia New" panose="020B0304020202020204" pitchFamily="34" charset="-34"/>
                <a:cs typeface="Cordia New" panose="020B0304020202020204" pitchFamily="34" charset="-34"/>
              </a:rPr>
              <a:t>• </a:t>
            </a:r>
            <a:r>
              <a:rPr lang="en-US" dirty="0" err="1">
                <a:latin typeface="Cordia New" panose="020B0304020202020204" pitchFamily="34" charset="-34"/>
                <a:cs typeface="Cordia New" panose="020B0304020202020204" pitchFamily="34" charset="-34"/>
              </a:rPr>
              <a:t>Security_Report_Package.Services</a:t>
            </a:r>
            <a:r>
              <a:rPr lang="en-US" dirty="0">
                <a:latin typeface="Cordia New" panose="020B0304020202020204" pitchFamily="34" charset="-34"/>
                <a:cs typeface="Cordia New" panose="020B0304020202020204" pitchFamily="34" charset="-34"/>
              </a:rPr>
              <a:t> – Generates </a:t>
            </a:r>
            <a:r>
              <a:rPr lang="en-US" dirty="0" err="1">
                <a:latin typeface="Cordia New" panose="020B0304020202020204" pitchFamily="34" charset="-34"/>
                <a:cs typeface="Cordia New" panose="020B0304020202020204" pitchFamily="34" charset="-34"/>
              </a:rPr>
              <a:t>Owasp</a:t>
            </a:r>
            <a:r>
              <a:rPr lang="en-US" dirty="0">
                <a:latin typeface="Cordia New" panose="020B0304020202020204" pitchFamily="34" charset="-34"/>
                <a:cs typeface="Cordia New" panose="020B0304020202020204" pitchFamily="34" charset="-34"/>
              </a:rPr>
              <a:t> Zap Security Vulnerability Report</a:t>
            </a:r>
          </a:p>
          <a:p>
            <a:pPr marL="0" indent="0">
              <a:buNone/>
            </a:pPr>
            <a:r>
              <a:rPr lang="en-US" dirty="0">
                <a:latin typeface="Cordia New" panose="020B0304020202020204" pitchFamily="34" charset="-34"/>
                <a:cs typeface="Cordia New" panose="020B0304020202020204" pitchFamily="34" charset="-34"/>
              </a:rPr>
              <a:t>	• </a:t>
            </a:r>
            <a:r>
              <a:rPr lang="en-US" dirty="0" err="1">
                <a:latin typeface="Cordia New" panose="020B0304020202020204" pitchFamily="34" charset="-34"/>
                <a:cs typeface="Cordia New" panose="020B0304020202020204" pitchFamily="34" charset="-34"/>
              </a:rPr>
              <a:t>OwaspZapReport.java</a:t>
            </a:r>
            <a:endParaRPr lang="en-US" dirty="0">
              <a:latin typeface="Cordia New" panose="020B0304020202020204" pitchFamily="34" charset="-34"/>
              <a:cs typeface="Cordia New" panose="020B0304020202020204" pitchFamily="34" charset="-34"/>
            </a:endParaRPr>
          </a:p>
          <a:p>
            <a:pPr marL="0" indent="0">
              <a:buNone/>
            </a:pPr>
            <a:endParaRPr lang="en-US" sz="1600" dirty="0">
              <a:latin typeface="Cordia New" panose="020B0304020202020204" pitchFamily="34" charset="-34"/>
              <a:cs typeface="Cordia New" panose="020B0304020202020204" pitchFamily="34" charset="-34"/>
            </a:endParaRPr>
          </a:p>
          <a:p>
            <a:pPr marL="0" indent="0">
              <a:buNone/>
            </a:pPr>
            <a:r>
              <a:rPr lang="en-US" sz="2100" b="1" dirty="0">
                <a:latin typeface="Cordia New" panose="020B0304020202020204" pitchFamily="34" charset="-34"/>
                <a:cs typeface="Cordia New" panose="020B0304020202020204" pitchFamily="34" charset="-34"/>
              </a:rPr>
              <a:t>Files:</a:t>
            </a:r>
          </a:p>
          <a:p>
            <a:pPr marL="0" indent="0">
              <a:buNone/>
            </a:pPr>
            <a:r>
              <a:rPr lang="en-US" sz="1700" b="1" dirty="0">
                <a:latin typeface="Cordia New" panose="020B0304020202020204" pitchFamily="34" charset="-34"/>
                <a:cs typeface="Cordia New" panose="020B0304020202020204" pitchFamily="34" charset="-34"/>
              </a:rPr>
              <a:t>• </a:t>
            </a:r>
            <a:r>
              <a:rPr lang="en-US" sz="1700" b="1" dirty="0" err="1">
                <a:latin typeface="Cordia New" panose="020B0304020202020204" pitchFamily="34" charset="-34"/>
                <a:cs typeface="Cordia New" panose="020B0304020202020204" pitchFamily="34" charset="-34"/>
              </a:rPr>
              <a:t>BaseSecurityTest.java</a:t>
            </a:r>
            <a:r>
              <a:rPr lang="en-US" sz="1700" b="1" dirty="0">
                <a:latin typeface="Cordia New" panose="020B0304020202020204" pitchFamily="34" charset="-34"/>
                <a:cs typeface="Cordia New" panose="020B0304020202020204" pitchFamily="34" charset="-34"/>
              </a:rPr>
              <a:t> – Parent class for conduct security test.  Contains @</a:t>
            </a:r>
            <a:r>
              <a:rPr lang="en-US" sz="1700" b="1" dirty="0" err="1">
                <a:latin typeface="Cordia New" panose="020B0304020202020204" pitchFamily="34" charset="-34"/>
                <a:cs typeface="Cordia New" panose="020B0304020202020204" pitchFamily="34" charset="-34"/>
              </a:rPr>
              <a:t>BeforeMethod</a:t>
            </a:r>
            <a:r>
              <a:rPr lang="en-US" sz="1700" b="1" dirty="0">
                <a:latin typeface="Cordia New" panose="020B0304020202020204" pitchFamily="34" charset="-34"/>
                <a:cs typeface="Cordia New" panose="020B0304020202020204" pitchFamily="34" charset="-34"/>
              </a:rPr>
              <a:t> and @</a:t>
            </a:r>
            <a:r>
              <a:rPr lang="en-US" sz="1700" b="1" dirty="0" err="1">
                <a:latin typeface="Cordia New" panose="020B0304020202020204" pitchFamily="34" charset="-34"/>
                <a:cs typeface="Cordia New" panose="020B0304020202020204" pitchFamily="34" charset="-34"/>
              </a:rPr>
              <a:t>AfterMethod</a:t>
            </a:r>
            <a:r>
              <a:rPr lang="en-US" sz="1700" b="1" dirty="0">
                <a:latin typeface="Cordia New" panose="020B0304020202020204" pitchFamily="34" charset="-34"/>
                <a:cs typeface="Cordia New" panose="020B0304020202020204" pitchFamily="34" charset="-34"/>
              </a:rPr>
              <a:t>.  Includes </a:t>
            </a:r>
            <a:r>
              <a:rPr lang="en-US" sz="1700" b="1" dirty="0" err="1">
                <a:latin typeface="Cordia New" panose="020B0304020202020204" pitchFamily="34" charset="-34"/>
                <a:cs typeface="Cordia New" panose="020B0304020202020204" pitchFamily="34" charset="-34"/>
              </a:rPr>
              <a:t>Owasp</a:t>
            </a:r>
            <a:r>
              <a:rPr lang="en-US" sz="1700" b="1" dirty="0">
                <a:latin typeface="Cordia New" panose="020B0304020202020204" pitchFamily="34" charset="-34"/>
                <a:cs typeface="Cordia New" panose="020B0304020202020204" pitchFamily="34" charset="-34"/>
              </a:rPr>
              <a:t> Zap configurations.</a:t>
            </a:r>
          </a:p>
          <a:p>
            <a:pPr marL="0" indent="0">
              <a:buNone/>
            </a:pPr>
            <a:r>
              <a:rPr lang="en-US" sz="1700" b="1" dirty="0">
                <a:latin typeface="Cordia New" panose="020B0304020202020204" pitchFamily="34" charset="-34"/>
                <a:cs typeface="Cordia New" panose="020B0304020202020204" pitchFamily="34" charset="-34"/>
              </a:rPr>
              <a:t>• </a:t>
            </a:r>
            <a:r>
              <a:rPr lang="en-US" sz="1700" b="1" dirty="0" err="1">
                <a:latin typeface="Cordia New" panose="020B0304020202020204" pitchFamily="34" charset="-34"/>
                <a:cs typeface="Cordia New" panose="020B0304020202020204" pitchFamily="34" charset="-34"/>
              </a:rPr>
              <a:t>SecurityReport.java</a:t>
            </a:r>
            <a:r>
              <a:rPr lang="en-US" sz="1700" b="1" dirty="0">
                <a:latin typeface="Cordia New" panose="020B0304020202020204" pitchFamily="34" charset="-34"/>
                <a:cs typeface="Cordia New" panose="020B0304020202020204" pitchFamily="34" charset="-34"/>
              </a:rPr>
              <a:t> – Main TestNG class declaring @Test, traversing through all subsidiary values used to access each website.  Security Vulnerability Report is subsequently generated in the process in HTML format</a:t>
            </a:r>
          </a:p>
          <a:p>
            <a:pPr marL="0" indent="0">
              <a:buNone/>
            </a:pPr>
            <a:r>
              <a:rPr lang="en-US" sz="1700" b="1" dirty="0">
                <a:latin typeface="Cordia New" panose="020B0304020202020204" pitchFamily="34" charset="-34"/>
                <a:cs typeface="Cordia New" panose="020B0304020202020204" pitchFamily="34" charset="-34"/>
              </a:rPr>
              <a:t>• </a:t>
            </a:r>
            <a:r>
              <a:rPr lang="en-US" sz="1700" b="1" dirty="0" err="1">
                <a:latin typeface="Cordia New" panose="020B0304020202020204" pitchFamily="34" charset="-34"/>
                <a:cs typeface="Cordia New" panose="020B0304020202020204" pitchFamily="34" charset="-34"/>
              </a:rPr>
              <a:t>BasePage.java</a:t>
            </a:r>
            <a:r>
              <a:rPr lang="en-US" sz="1700" b="1" dirty="0">
                <a:latin typeface="Cordia New" panose="020B0304020202020204" pitchFamily="34" charset="-34"/>
                <a:cs typeface="Cordia New" panose="020B0304020202020204" pitchFamily="34" charset="-34"/>
              </a:rPr>
              <a:t> – Abstract parent class used to initialized WebDriver and </a:t>
            </a:r>
            <a:r>
              <a:rPr lang="en-US" sz="1700" b="1" dirty="0" err="1">
                <a:latin typeface="Cordia New" panose="020B0304020202020204" pitchFamily="34" charset="-34"/>
                <a:cs typeface="Cordia New" panose="020B0304020202020204" pitchFamily="34" charset="-34"/>
              </a:rPr>
              <a:t>WebDriverWait</a:t>
            </a:r>
            <a:r>
              <a:rPr lang="en-US" sz="1700" b="1" dirty="0">
                <a:latin typeface="Cordia New" panose="020B0304020202020204" pitchFamily="34" charset="-34"/>
                <a:cs typeface="Cordia New" panose="020B0304020202020204" pitchFamily="34" charset="-34"/>
              </a:rPr>
              <a:t> objects</a:t>
            </a:r>
          </a:p>
          <a:p>
            <a:pPr marL="0" indent="0">
              <a:buNone/>
            </a:pPr>
            <a:r>
              <a:rPr lang="en-US" sz="1700" b="1" dirty="0">
                <a:latin typeface="Cordia New" panose="020B0304020202020204" pitchFamily="34" charset="-34"/>
                <a:cs typeface="Cordia New" panose="020B0304020202020204" pitchFamily="34" charset="-34"/>
              </a:rPr>
              <a:t>• </a:t>
            </a:r>
            <a:r>
              <a:rPr lang="en-US" sz="1700" b="1" dirty="0" err="1">
                <a:latin typeface="Cordia New" panose="020B0304020202020204" pitchFamily="34" charset="-34"/>
                <a:cs typeface="Cordia New" panose="020B0304020202020204" pitchFamily="34" charset="-34"/>
              </a:rPr>
              <a:t>PepsiCoBrandsPage.java</a:t>
            </a:r>
            <a:r>
              <a:rPr lang="en-US" sz="1700" b="1" dirty="0">
                <a:latin typeface="Cordia New" panose="020B0304020202020204" pitchFamily="34" charset="-34"/>
                <a:cs typeface="Cordia New" panose="020B0304020202020204" pitchFamily="34" charset="-34"/>
              </a:rPr>
              <a:t> – Child class of </a:t>
            </a:r>
            <a:r>
              <a:rPr lang="en-US" sz="1700" b="1" dirty="0" err="1">
                <a:latin typeface="Cordia New" panose="020B0304020202020204" pitchFamily="34" charset="-34"/>
                <a:cs typeface="Cordia New" panose="020B0304020202020204" pitchFamily="34" charset="-34"/>
              </a:rPr>
              <a:t>BasePage</a:t>
            </a:r>
            <a:r>
              <a:rPr lang="en-US" sz="1700" b="1" dirty="0">
                <a:latin typeface="Cordia New" panose="020B0304020202020204" pitchFamily="34" charset="-34"/>
                <a:cs typeface="Cordia New" panose="020B0304020202020204" pitchFamily="34" charset="-34"/>
              </a:rPr>
              <a:t> used to display each individual website of subsidiary</a:t>
            </a:r>
          </a:p>
          <a:p>
            <a:pPr marL="0" indent="0">
              <a:buNone/>
            </a:pPr>
            <a:r>
              <a:rPr lang="en-US" sz="1700" b="1" dirty="0">
                <a:latin typeface="Cordia New" panose="020B0304020202020204" pitchFamily="34" charset="-34"/>
                <a:cs typeface="Cordia New" panose="020B0304020202020204" pitchFamily="34" charset="-34"/>
              </a:rPr>
              <a:t>ª </a:t>
            </a:r>
            <a:r>
              <a:rPr lang="en-US" sz="1700" b="1" dirty="0" err="1">
                <a:latin typeface="Cordia New" panose="020B0304020202020204" pitchFamily="34" charset="-34"/>
                <a:cs typeface="Cordia New" panose="020B0304020202020204" pitchFamily="34" charset="-34"/>
              </a:rPr>
              <a:t>Subsidiary.java</a:t>
            </a:r>
            <a:r>
              <a:rPr lang="en-US" sz="1700" b="1" dirty="0">
                <a:latin typeface="Cordia New" panose="020B0304020202020204" pitchFamily="34" charset="-34"/>
                <a:cs typeface="Cordia New" panose="020B0304020202020204" pitchFamily="34" charset="-34"/>
              </a:rPr>
              <a:t> – Subsidiary schema containing </a:t>
            </a:r>
            <a:r>
              <a:rPr lang="en-US" sz="1700" b="1" dirty="0" err="1">
                <a:latin typeface="Cordia New" panose="020B0304020202020204" pitchFamily="34" charset="-34"/>
                <a:cs typeface="Cordia New" panose="020B0304020202020204" pitchFamily="34" charset="-34"/>
              </a:rPr>
              <a:t>enum</a:t>
            </a:r>
            <a:r>
              <a:rPr lang="en-US" sz="1700" b="1" dirty="0">
                <a:latin typeface="Cordia New" panose="020B0304020202020204" pitchFamily="34" charset="-34"/>
                <a:cs typeface="Cordia New" panose="020B0304020202020204" pitchFamily="34" charset="-34"/>
              </a:rPr>
              <a:t> of each subsidiary which includes name and URL</a:t>
            </a:r>
          </a:p>
          <a:p>
            <a:pPr marL="0" indent="0">
              <a:buNone/>
            </a:pPr>
            <a:r>
              <a:rPr lang="en-US" sz="1700" b="1" dirty="0">
                <a:latin typeface="Cordia New" panose="020B0304020202020204" pitchFamily="34" charset="-34"/>
                <a:cs typeface="Cordia New" panose="020B0304020202020204" pitchFamily="34" charset="-34"/>
              </a:rPr>
              <a:t>• </a:t>
            </a:r>
            <a:r>
              <a:rPr lang="en-US" sz="1700" b="1" dirty="0" err="1">
                <a:latin typeface="Cordia New" panose="020B0304020202020204" pitchFamily="34" charset="-34"/>
                <a:cs typeface="Cordia New" panose="020B0304020202020204" pitchFamily="34" charset="-34"/>
              </a:rPr>
              <a:t>OwaspZapReport</a:t>
            </a:r>
            <a:r>
              <a:rPr lang="en-US" sz="1700" b="1" dirty="0">
                <a:latin typeface="Cordia New" panose="020B0304020202020204" pitchFamily="34" charset="-34"/>
                <a:cs typeface="Cordia New" panose="020B0304020202020204" pitchFamily="34" charset="-34"/>
              </a:rPr>
              <a:t> – Generates and designs overall layout of </a:t>
            </a:r>
            <a:r>
              <a:rPr lang="en-US" sz="1700" b="1" dirty="0" err="1">
                <a:latin typeface="Cordia New" panose="020B0304020202020204" pitchFamily="34" charset="-34"/>
                <a:cs typeface="Cordia New" panose="020B0304020202020204" pitchFamily="34" charset="-34"/>
              </a:rPr>
              <a:t>Owasp</a:t>
            </a:r>
            <a:r>
              <a:rPr lang="en-US" sz="1700" b="1" dirty="0">
                <a:latin typeface="Cordia New" panose="020B0304020202020204" pitchFamily="34" charset="-34"/>
                <a:cs typeface="Cordia New" panose="020B0304020202020204" pitchFamily="34" charset="-34"/>
              </a:rPr>
              <a:t> Zap report in HTML format</a:t>
            </a:r>
          </a:p>
          <a:p>
            <a:r>
              <a:rPr lang="en-US" sz="1700" dirty="0">
                <a:latin typeface="Cordia New" panose="020B0304020202020204" pitchFamily="34" charset="-34"/>
                <a:cs typeface="Cordia New" panose="020B0304020202020204" pitchFamily="34" charset="-34"/>
              </a:rPr>
              <a:t>• </a:t>
            </a:r>
            <a:r>
              <a:rPr lang="en-US" sz="1700" dirty="0" err="1">
                <a:latin typeface="Cordia New" panose="020B0304020202020204" pitchFamily="34" charset="-34"/>
                <a:cs typeface="Cordia New" panose="020B0304020202020204" pitchFamily="34" charset="-34"/>
              </a:rPr>
              <a:t>Pom.xml</a:t>
            </a:r>
            <a:r>
              <a:rPr lang="en-US" sz="1700" dirty="0">
                <a:latin typeface="Cordia New" panose="020B0304020202020204" pitchFamily="34" charset="-34"/>
                <a:cs typeface="Cordia New" panose="020B0304020202020204" pitchFamily="34" charset="-34"/>
              </a:rPr>
              <a:t> - Contains Maven </a:t>
            </a:r>
            <a:r>
              <a:rPr lang="en-US" sz="1700" dirty="0" err="1">
                <a:latin typeface="Cordia New" panose="020B0304020202020204" pitchFamily="34" charset="-34"/>
                <a:cs typeface="Cordia New" panose="020B0304020202020204" pitchFamily="34" charset="-34"/>
              </a:rPr>
              <a:t>dependcies</a:t>
            </a:r>
            <a:r>
              <a:rPr lang="en-US" sz="1700" dirty="0">
                <a:latin typeface="Cordia New" panose="020B0304020202020204" pitchFamily="34" charset="-34"/>
                <a:cs typeface="Cordia New" panose="020B0304020202020204" pitchFamily="34" charset="-34"/>
              </a:rPr>
              <a:t> used to operate </a:t>
            </a:r>
            <a:r>
              <a:rPr lang="en-US" sz="1700" dirty="0" err="1">
                <a:latin typeface="Cordia New" panose="020B0304020202020204" pitchFamily="34" charset="-34"/>
                <a:cs typeface="Cordia New" panose="020B0304020202020204" pitchFamily="34" charset="-34"/>
              </a:rPr>
              <a:t>Selnium</a:t>
            </a:r>
            <a:r>
              <a:rPr lang="en-US" sz="1700" dirty="0">
                <a:latin typeface="Cordia New" panose="020B0304020202020204" pitchFamily="34" charset="-34"/>
                <a:cs typeface="Cordia New" panose="020B0304020202020204" pitchFamily="34" charset="-34"/>
              </a:rPr>
              <a:t>, TestNG and </a:t>
            </a:r>
            <a:r>
              <a:rPr lang="en-US" sz="1700" dirty="0" err="1">
                <a:latin typeface="Cordia New" panose="020B0304020202020204" pitchFamily="34" charset="-34"/>
                <a:cs typeface="Cordia New" panose="020B0304020202020204" pitchFamily="34" charset="-34"/>
              </a:rPr>
              <a:t>Owasp</a:t>
            </a:r>
            <a:r>
              <a:rPr lang="en-US" sz="1700" dirty="0">
                <a:latin typeface="Cordia New" panose="020B0304020202020204" pitchFamily="34" charset="-34"/>
                <a:cs typeface="Cordia New" panose="020B0304020202020204" pitchFamily="34" charset="-34"/>
              </a:rPr>
              <a:t> Zap</a:t>
            </a:r>
          </a:p>
          <a:p>
            <a:pPr marL="0" indent="0">
              <a:buNone/>
            </a:pPr>
            <a:endParaRPr lang="en-US" b="1" dirty="0">
              <a:latin typeface="Cordia New" panose="020B0304020202020204" pitchFamily="34" charset="-34"/>
              <a:cs typeface="Cordia New" panose="020B0304020202020204" pitchFamily="34" charset="-34"/>
            </a:endParaRPr>
          </a:p>
          <a:p>
            <a:pPr marL="0" indent="0">
              <a:buNone/>
            </a:pPr>
            <a:endParaRPr lang="en-US" sz="2200" dirty="0">
              <a:latin typeface="Cordia New" panose="020B0304020202020204" pitchFamily="34" charset="-34"/>
              <a:cs typeface="Cordia New" panose="020B0304020202020204" pitchFamily="34" charset="-34"/>
            </a:endParaRPr>
          </a:p>
          <a:p>
            <a:pPr marL="0" indent="0">
              <a:buNone/>
            </a:pPr>
            <a:endParaRPr lang="en-US" sz="2200" dirty="0">
              <a:latin typeface="Cordia New" panose="020B0304020202020204" pitchFamily="34" charset="-34"/>
              <a:cs typeface="Cordia New" panose="020B0304020202020204" pitchFamily="34" charset="-34"/>
            </a:endParaRPr>
          </a:p>
          <a:p>
            <a:pPr marL="0" indent="0">
              <a:buNone/>
            </a:pPr>
            <a:r>
              <a:rPr lang="en-US" sz="2200" dirty="0">
                <a:latin typeface="Cordia New" panose="020B0304020202020204" pitchFamily="34" charset="-34"/>
                <a:cs typeface="Cordia New" panose="020B0304020202020204" pitchFamily="34" charset="-34"/>
              </a:rPr>
              <a:t> </a:t>
            </a:r>
            <a:endParaRPr lang="en-US" sz="2200" dirty="0">
              <a:solidFill>
                <a:schemeClr val="tx1"/>
              </a:solidFill>
              <a:latin typeface="Cordia New" panose="020B0304020202020204" pitchFamily="34" charset="-34"/>
              <a:cs typeface="Cordia New" panose="020B0304020202020204" pitchFamily="34" charset="-34"/>
            </a:endParaRPr>
          </a:p>
        </p:txBody>
      </p:sp>
      <p:pic>
        <p:nvPicPr>
          <p:cNvPr id="9" name="Picture 8">
            <a:extLst>
              <a:ext uri="{FF2B5EF4-FFF2-40B4-BE49-F238E27FC236}">
                <a16:creationId xmlns:a16="http://schemas.microsoft.com/office/drawing/2014/main" id="{5BC23913-6B67-106D-59F1-01D2D09D6D3B}"/>
              </a:ext>
            </a:extLst>
          </p:cNvPr>
          <p:cNvPicPr>
            <a:picLocks noChangeAspect="1"/>
          </p:cNvPicPr>
          <p:nvPr/>
        </p:nvPicPr>
        <p:blipFill>
          <a:blip r:embed="rId2"/>
          <a:stretch>
            <a:fillRect/>
          </a:stretch>
        </p:blipFill>
        <p:spPr>
          <a:xfrm>
            <a:off x="8222960" y="330306"/>
            <a:ext cx="3708400" cy="2870200"/>
          </a:xfrm>
          <a:prstGeom prst="rect">
            <a:avLst/>
          </a:prstGeom>
        </p:spPr>
      </p:pic>
    </p:spTree>
    <p:extLst>
      <p:ext uri="{BB962C8B-B14F-4D97-AF65-F5344CB8AC3E}">
        <p14:creationId xmlns:p14="http://schemas.microsoft.com/office/powerpoint/2010/main" val="3348124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2CB84-1118-C4DE-4A56-4BC9F5208C6C}"/>
              </a:ext>
            </a:extLst>
          </p:cNvPr>
          <p:cNvSpPr>
            <a:spLocks noGrp="1"/>
          </p:cNvSpPr>
          <p:nvPr>
            <p:ph type="title"/>
          </p:nvPr>
        </p:nvSpPr>
        <p:spPr>
          <a:xfrm>
            <a:off x="117952" y="0"/>
            <a:ext cx="8534400" cy="1507067"/>
          </a:xfrm>
        </p:spPr>
        <p:txBody>
          <a:bodyPr/>
          <a:lstStyle/>
          <a:p>
            <a:r>
              <a:rPr lang="en-US" dirty="0"/>
              <a:t>Tech Stack</a:t>
            </a:r>
            <a:br>
              <a:rPr lang="en-US" dirty="0"/>
            </a:br>
            <a:endParaRPr lang="en-US" dirty="0"/>
          </a:p>
        </p:txBody>
      </p:sp>
      <p:sp>
        <p:nvSpPr>
          <p:cNvPr id="3" name="Content Placeholder 2">
            <a:extLst>
              <a:ext uri="{FF2B5EF4-FFF2-40B4-BE49-F238E27FC236}">
                <a16:creationId xmlns:a16="http://schemas.microsoft.com/office/drawing/2014/main" id="{F7372FB0-27A2-2633-0412-1C9C2FA04FCF}"/>
              </a:ext>
            </a:extLst>
          </p:cNvPr>
          <p:cNvSpPr>
            <a:spLocks noGrp="1"/>
          </p:cNvSpPr>
          <p:nvPr>
            <p:ph idx="1"/>
          </p:nvPr>
        </p:nvSpPr>
        <p:spPr>
          <a:xfrm>
            <a:off x="117952" y="301558"/>
            <a:ext cx="9360530" cy="6254884"/>
          </a:xfrm>
        </p:spPr>
        <p:txBody>
          <a:bodyPr>
            <a:normAutofit/>
          </a:bodyPr>
          <a:lstStyle/>
          <a:p>
            <a:pPr marL="0" indent="0">
              <a:buNone/>
            </a:pPr>
            <a:endParaRPr lang="en-US" sz="2400" b="1" dirty="0">
              <a:solidFill>
                <a:schemeClr val="bg1"/>
              </a:solidFill>
              <a:latin typeface="Cordia New" panose="020B0304020202020204" pitchFamily="34" charset="-34"/>
              <a:cs typeface="Cordia New" panose="020B0304020202020204" pitchFamily="34" charset="-34"/>
            </a:endParaRPr>
          </a:p>
          <a:p>
            <a:pPr marL="0" indent="0">
              <a:buNone/>
            </a:pPr>
            <a:endParaRPr lang="en-US" sz="2400" dirty="0">
              <a:solidFill>
                <a:schemeClr val="tx1"/>
              </a:solidFill>
              <a:latin typeface="Cordia New" panose="020B0304020202020204" pitchFamily="34" charset="-34"/>
              <a:cs typeface="Cordia New" panose="020B0304020202020204" pitchFamily="34" charset="-34"/>
            </a:endParaRPr>
          </a:p>
          <a:p>
            <a:pPr marL="0" indent="0">
              <a:buNone/>
            </a:pPr>
            <a:r>
              <a:rPr lang="en-US" sz="2400" b="1" dirty="0">
                <a:solidFill>
                  <a:schemeClr val="tx1"/>
                </a:solidFill>
                <a:latin typeface="Cordia New" panose="020B0304020202020204" pitchFamily="34" charset="-34"/>
                <a:cs typeface="Cordia New" panose="020B0304020202020204" pitchFamily="34" charset="-34"/>
              </a:rPr>
              <a:t>Eclipse </a:t>
            </a:r>
            <a:r>
              <a:rPr lang="en-US" sz="2400" dirty="0">
                <a:solidFill>
                  <a:schemeClr val="tx1"/>
                </a:solidFill>
                <a:latin typeface="Cordia New" panose="020B0304020202020204" pitchFamily="34" charset="-34"/>
                <a:cs typeface="Cordia New" panose="020B0304020202020204" pitchFamily="34" charset="-34"/>
              </a:rPr>
              <a:t>– IDE used to program with Java</a:t>
            </a:r>
          </a:p>
          <a:p>
            <a:pPr marL="0" indent="0">
              <a:buNone/>
            </a:pPr>
            <a:r>
              <a:rPr lang="en-US" sz="2400" b="1" dirty="0">
                <a:solidFill>
                  <a:schemeClr val="tx1"/>
                </a:solidFill>
                <a:latin typeface="Cordia New" panose="020B0304020202020204" pitchFamily="34" charset="-34"/>
                <a:cs typeface="Cordia New" panose="020B0304020202020204" pitchFamily="34" charset="-34"/>
              </a:rPr>
              <a:t>Java</a:t>
            </a:r>
            <a:r>
              <a:rPr lang="en-US" sz="2400" dirty="0">
                <a:solidFill>
                  <a:schemeClr val="tx1"/>
                </a:solidFill>
                <a:latin typeface="Cordia New" panose="020B0304020202020204" pitchFamily="34" charset="-34"/>
                <a:cs typeface="Cordia New" panose="020B0304020202020204" pitchFamily="34" charset="-34"/>
              </a:rPr>
              <a:t> - Programming Language.  Contains libraries compatible with automation testing and cyber security</a:t>
            </a:r>
          </a:p>
          <a:p>
            <a:pPr marL="0" indent="0">
              <a:buNone/>
            </a:pPr>
            <a:r>
              <a:rPr lang="en-US" sz="2400" b="1" dirty="0">
                <a:solidFill>
                  <a:schemeClr val="tx1"/>
                </a:solidFill>
                <a:latin typeface="Cordia New" panose="020B0304020202020204" pitchFamily="34" charset="-34"/>
                <a:cs typeface="Cordia New" panose="020B0304020202020204" pitchFamily="34" charset="-34"/>
              </a:rPr>
              <a:t>Selenium</a:t>
            </a:r>
            <a:r>
              <a:rPr lang="en-US" sz="2400" dirty="0">
                <a:solidFill>
                  <a:schemeClr val="tx1"/>
                </a:solidFill>
                <a:latin typeface="Cordia New" panose="020B0304020202020204" pitchFamily="34" charset="-34"/>
                <a:cs typeface="Cordia New" panose="020B0304020202020204" pitchFamily="34" charset="-34"/>
              </a:rPr>
              <a:t> – Open Source Automation testing tool which allows you to perform automation tests </a:t>
            </a:r>
          </a:p>
          <a:p>
            <a:pPr marL="0" indent="0">
              <a:buNone/>
            </a:pPr>
            <a:r>
              <a:rPr lang="en-US" sz="2400" b="1" dirty="0">
                <a:solidFill>
                  <a:schemeClr val="tx1"/>
                </a:solidFill>
                <a:latin typeface="Cordia New" panose="020B0304020202020204" pitchFamily="34" charset="-34"/>
                <a:cs typeface="Cordia New" panose="020B0304020202020204" pitchFamily="34" charset="-34"/>
              </a:rPr>
              <a:t>TestNG – </a:t>
            </a:r>
            <a:r>
              <a:rPr lang="en-US" sz="2400" dirty="0">
                <a:solidFill>
                  <a:schemeClr val="tx1"/>
                </a:solidFill>
                <a:latin typeface="Cordia New" panose="020B0304020202020204" pitchFamily="34" charset="-34"/>
                <a:cs typeface="Cordia New" panose="020B0304020202020204" pitchFamily="34" charset="-34"/>
              </a:rPr>
              <a:t>Automation testing framework which allows the user to conduct different types of tests such as unit, functional and integration tests</a:t>
            </a:r>
          </a:p>
          <a:p>
            <a:pPr marL="0" indent="0">
              <a:buNone/>
            </a:pPr>
            <a:r>
              <a:rPr lang="en-US" sz="2400" b="1" dirty="0">
                <a:solidFill>
                  <a:schemeClr val="tx1"/>
                </a:solidFill>
                <a:latin typeface="Cordia New" panose="020B0304020202020204" pitchFamily="34" charset="-34"/>
                <a:cs typeface="Cordia New" panose="020B0304020202020204" pitchFamily="34" charset="-34"/>
              </a:rPr>
              <a:t>Maven</a:t>
            </a:r>
            <a:r>
              <a:rPr lang="en-US" sz="2400" dirty="0">
                <a:solidFill>
                  <a:schemeClr val="tx1"/>
                </a:solidFill>
                <a:latin typeface="Cordia New" panose="020B0304020202020204" pitchFamily="34" charset="-34"/>
                <a:cs typeface="Cordia New" panose="020B0304020202020204" pitchFamily="34" charset="-34"/>
              </a:rPr>
              <a:t> – An open source build tool which contains libraries from a remote server</a:t>
            </a:r>
          </a:p>
          <a:p>
            <a:pPr marL="0" indent="0">
              <a:buNone/>
            </a:pPr>
            <a:r>
              <a:rPr lang="en-US" sz="2400" b="1" dirty="0" err="1">
                <a:solidFill>
                  <a:schemeClr val="tx1"/>
                </a:solidFill>
                <a:latin typeface="Cordia New" panose="020B0304020202020204" pitchFamily="34" charset="-34"/>
                <a:cs typeface="Cordia New" panose="020B0304020202020204" pitchFamily="34" charset="-34"/>
              </a:rPr>
              <a:t>Owasp</a:t>
            </a:r>
            <a:r>
              <a:rPr lang="en-US" sz="2400" b="1" dirty="0">
                <a:solidFill>
                  <a:schemeClr val="tx1"/>
                </a:solidFill>
                <a:latin typeface="Cordia New" panose="020B0304020202020204" pitchFamily="34" charset="-34"/>
                <a:cs typeface="Cordia New" panose="020B0304020202020204" pitchFamily="34" charset="-34"/>
              </a:rPr>
              <a:t> Zap – </a:t>
            </a:r>
            <a:r>
              <a:rPr lang="en-US" sz="2400" dirty="0">
                <a:solidFill>
                  <a:schemeClr val="tx1"/>
                </a:solidFill>
                <a:latin typeface="Cordia New" panose="020B0304020202020204" pitchFamily="34" charset="-34"/>
                <a:cs typeface="Cordia New" panose="020B0304020202020204" pitchFamily="34" charset="-34"/>
              </a:rPr>
              <a:t>An open source tool used to conduct security tests.  Often used by cyber security engineers when performing penetration tests</a:t>
            </a:r>
          </a:p>
          <a:p>
            <a:pPr marL="0" indent="0">
              <a:buNone/>
            </a:pPr>
            <a:endParaRPr lang="en-US" dirty="0">
              <a:latin typeface="Cordia New" panose="020B0502040204020203" pitchFamily="34" charset="-34"/>
              <a:cs typeface="Cordia New" panose="020B0502040204020203" pitchFamily="34" charset="-34"/>
            </a:endParaRPr>
          </a:p>
          <a:p>
            <a:pPr marL="0" indent="0">
              <a:buNone/>
            </a:pPr>
            <a:endParaRPr lang="en-US" dirty="0">
              <a:latin typeface="Cordia New" panose="020B0502040204020203" pitchFamily="34" charset="-34"/>
              <a:cs typeface="Cordia New" panose="020B0502040204020203" pitchFamily="34" charset="-34"/>
            </a:endParaRPr>
          </a:p>
          <a:p>
            <a:pPr marL="0" indent="0">
              <a:buNone/>
            </a:pPr>
            <a:endParaRPr lang="en-US" dirty="0">
              <a:latin typeface="Cordia New" panose="020B0502040204020203" pitchFamily="34" charset="-34"/>
              <a:cs typeface="Cordia New" panose="020B0502040204020203" pitchFamily="34" charset="-34"/>
            </a:endParaRPr>
          </a:p>
          <a:p>
            <a:pPr marL="0" indent="0">
              <a:buNone/>
            </a:pPr>
            <a:endParaRPr lang="en-US" dirty="0">
              <a:latin typeface="Cordia New" panose="020B0502040204020203" pitchFamily="34" charset="-34"/>
              <a:cs typeface="Cordia New" panose="020B0502040204020203" pitchFamily="34" charset="-34"/>
            </a:endParaRPr>
          </a:p>
        </p:txBody>
      </p:sp>
    </p:spTree>
    <p:extLst>
      <p:ext uri="{BB962C8B-B14F-4D97-AF65-F5344CB8AC3E}">
        <p14:creationId xmlns:p14="http://schemas.microsoft.com/office/powerpoint/2010/main" val="1391469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DD78-74B2-F5FB-6049-082BE5A18C5B}"/>
              </a:ext>
            </a:extLst>
          </p:cNvPr>
          <p:cNvSpPr>
            <a:spLocks noGrp="1"/>
          </p:cNvSpPr>
          <p:nvPr>
            <p:ph type="title"/>
          </p:nvPr>
        </p:nvSpPr>
        <p:spPr>
          <a:xfrm>
            <a:off x="280737" y="7129646"/>
            <a:ext cx="17749871" cy="7377135"/>
          </a:xfrm>
        </p:spPr>
        <p:txBody>
          <a:bodyPr>
            <a:noAutofit/>
          </a:bodyPr>
          <a:lstStyle/>
          <a:p>
            <a:endParaRPr lang="en-US" sz="10000" dirty="0"/>
          </a:p>
        </p:txBody>
      </p:sp>
      <p:sp>
        <p:nvSpPr>
          <p:cNvPr id="4" name="TextBox 3">
            <a:extLst>
              <a:ext uri="{FF2B5EF4-FFF2-40B4-BE49-F238E27FC236}">
                <a16:creationId xmlns:a16="http://schemas.microsoft.com/office/drawing/2014/main" id="{CEE9F8A7-D32C-22F5-4E1F-29F765EBF422}"/>
              </a:ext>
            </a:extLst>
          </p:cNvPr>
          <p:cNvSpPr txBox="1"/>
          <p:nvPr/>
        </p:nvSpPr>
        <p:spPr>
          <a:xfrm>
            <a:off x="2794000" y="2286000"/>
            <a:ext cx="6226384" cy="1569660"/>
          </a:xfrm>
          <a:prstGeom prst="rect">
            <a:avLst/>
          </a:prstGeom>
          <a:noFill/>
        </p:spPr>
        <p:txBody>
          <a:bodyPr wrap="none" rtlCol="0">
            <a:spAutoFit/>
          </a:bodyPr>
          <a:lstStyle/>
          <a:p>
            <a:r>
              <a:rPr lang="en-US" sz="9600" dirty="0"/>
              <a:t>Thank you</a:t>
            </a:r>
          </a:p>
        </p:txBody>
      </p:sp>
    </p:spTree>
    <p:extLst>
      <p:ext uri="{BB962C8B-B14F-4D97-AF65-F5344CB8AC3E}">
        <p14:creationId xmlns:p14="http://schemas.microsoft.com/office/powerpoint/2010/main" val="4266439230"/>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7113</TotalTime>
  <Words>478</Words>
  <Application>Microsoft Macintosh PowerPoint</Application>
  <PresentationFormat>Widescreen</PresentationFormat>
  <Paragraphs>42</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Century Gothic</vt:lpstr>
      <vt:lpstr>Cordia New</vt:lpstr>
      <vt:lpstr>Wingdings 3</vt:lpstr>
      <vt:lpstr>Slice</vt:lpstr>
      <vt:lpstr>Security Vulnerability Report</vt:lpstr>
      <vt:lpstr>Description</vt:lpstr>
      <vt:lpstr>PowerPoint Presentation</vt:lpstr>
      <vt:lpstr>Tech Stack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Vulnerability Report</dc:title>
  <dc:creator>Kyle Drewes</dc:creator>
  <cp:lastModifiedBy>Kyle Drewes</cp:lastModifiedBy>
  <cp:revision>33</cp:revision>
  <dcterms:created xsi:type="dcterms:W3CDTF">2023-05-15T05:13:10Z</dcterms:created>
  <dcterms:modified xsi:type="dcterms:W3CDTF">2026-06-24T19:45:57Z</dcterms:modified>
</cp:coreProperties>
</file>